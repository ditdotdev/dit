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3" d="100"/>
          <a:sy n="123" d="100"/>
        </p:scale>
        <p:origin x="169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0B0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3632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atadatda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6888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931920" y="320040"/>
            <a:ext cx="79552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200" b="1" i="0">
                <a:solidFill>
                  <a:srgbClr val="FFFFFF"/>
                </a:solidFill>
                <a:latin typeface="Source Sans Pro"/>
              </a:rPr>
              <a:t>GIT FOR DATABASES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713232"/>
            <a:ext cx="7955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1">
                <a:solidFill>
                  <a:srgbClr val="A99DBA"/>
                </a:solidFill>
                <a:latin typeface="Source Sans Pro"/>
              </a:rPr>
              <a:t>Your code. Your environment. Your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024128"/>
            <a:ext cx="7955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Source Sans Pro"/>
              </a:rPr>
              <a:t>Prepared for JPMorgan Chase  |  Developer Experience &amp; Productivity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0B0B53"/>
                </a:solidFill>
                <a:latin typeface="Source Sans Pro"/>
              </a:rPr>
              <a:t>WHY DATADATDAT FOR JPMC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3822191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3822191" cy="292608"/>
          </a:xfrm>
          <a:prstGeom prst="rect">
            <a:avLst/>
          </a:prstGeom>
          <a:solidFill>
            <a:srgbClr val="A99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34564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ource Sans Pro"/>
              </a:rPr>
              <a:t>JPMC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3456431" cy="18004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 dirty="0">
                <a:solidFill>
                  <a:srgbClr val="A99DBA"/>
                </a:solidFill>
                <a:latin typeface="Source Sans Pro"/>
              </a:rPr>
              <a:t>■  </a:t>
            </a:r>
            <a:r>
              <a:rPr sz="1050" dirty="0">
                <a:solidFill>
                  <a:srgbClr val="4A4A4A"/>
                </a:solidFill>
                <a:latin typeface="Source Sans Pro"/>
              </a:rPr>
              <a:t>20+ developers share a single dev database — outages and restores hit the entire team.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A99DBA"/>
                </a:solidFill>
                <a:latin typeface="Source Sans Pro"/>
              </a:rPr>
              <a:t>■  </a:t>
            </a:r>
            <a:r>
              <a:rPr sz="1050" dirty="0">
                <a:solidFill>
                  <a:srgbClr val="4A4A4A"/>
                </a:solidFill>
                <a:latin typeface="Source Sans Pro"/>
              </a:rPr>
              <a:t>Database </a:t>
            </a:r>
            <a:r>
              <a:rPr sz="1050" dirty="0" err="1">
                <a:solidFill>
                  <a:srgbClr val="4A4A4A"/>
                </a:solidFill>
                <a:latin typeface="Source Sans Pro"/>
              </a:rPr>
              <a:t>rehydrations</a:t>
            </a:r>
            <a:r>
              <a:rPr sz="1050" dirty="0">
                <a:solidFill>
                  <a:srgbClr val="4A4A4A"/>
                </a:solidFill>
                <a:latin typeface="Source Sans Pro"/>
              </a:rPr>
              <a:t> and restore-from-backup are slow and operationally disruptive.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A99DBA"/>
                </a:solidFill>
                <a:latin typeface="Source Sans Pro"/>
              </a:rPr>
              <a:t>■  </a:t>
            </a:r>
            <a:r>
              <a:rPr sz="1050" dirty="0">
                <a:solidFill>
                  <a:srgbClr val="4A4A4A"/>
                </a:solidFill>
                <a:latin typeface="Source Sans Pro"/>
              </a:rPr>
              <a:t>Load-bearing shared DBs make developers risk-averse</a:t>
            </a:r>
            <a:r>
              <a:rPr lang="en-US" sz="1050" dirty="0">
                <a:solidFill>
                  <a:srgbClr val="4A4A4A"/>
                </a:solidFill>
                <a:latin typeface="Source Sans Pro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A99DBA"/>
                </a:solidFill>
                <a:latin typeface="Source Sans Pro"/>
              </a:rPr>
              <a:t>■  </a:t>
            </a:r>
            <a:r>
              <a:rPr sz="1050" dirty="0">
                <a:solidFill>
                  <a:srgbClr val="4A4A4A"/>
                </a:solidFill>
                <a:latin typeface="Source Sans Pro"/>
              </a:rPr>
              <a:t>Current workspaces </a:t>
            </a:r>
            <a:r>
              <a:rPr lang="en-US" sz="1050" dirty="0">
                <a:solidFill>
                  <a:srgbClr val="4A4A4A"/>
                </a:solidFill>
                <a:latin typeface="Source Sans Pro"/>
              </a:rPr>
              <a:t>do not</a:t>
            </a:r>
            <a:r>
              <a:rPr sz="1050" dirty="0">
                <a:solidFill>
                  <a:srgbClr val="4A4A4A"/>
                </a:solidFill>
                <a:latin typeface="Source Sans Pro"/>
              </a:rPr>
              <a:t> host containers locally </a:t>
            </a:r>
            <a:r>
              <a:rPr lang="en-US" sz="1050" dirty="0">
                <a:solidFill>
                  <a:srgbClr val="4A4A4A"/>
                </a:solidFill>
                <a:latin typeface="Source Sans Pro"/>
              </a:rPr>
              <a:t>but expectation is that will change in the future.</a:t>
            </a:r>
            <a:endParaRPr sz="1050" dirty="0">
              <a:solidFill>
                <a:srgbClr val="4A4A4A"/>
              </a:solidFill>
              <a:latin typeface="Source Sans Pro"/>
            </a:endParaRP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A99DBA"/>
                </a:solidFill>
                <a:latin typeface="Source Sans Pro"/>
              </a:rPr>
              <a:t>■  </a:t>
            </a:r>
            <a:r>
              <a:rPr sz="1050" dirty="0">
                <a:solidFill>
                  <a:srgbClr val="4A4A4A"/>
                </a:solidFill>
                <a:latin typeface="Source Sans Pro"/>
              </a:rPr>
              <a:t>Data workflow is misaligned with the app code workflow, eroding quality and velocity.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8263" y="2103120"/>
            <a:ext cx="3822191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98263" y="2103120"/>
            <a:ext cx="3822191" cy="292608"/>
          </a:xfrm>
          <a:prstGeom prst="rect">
            <a:avLst/>
          </a:prstGeom>
          <a:solidFill>
            <a:srgbClr val="3632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81143" y="2103120"/>
            <a:ext cx="34564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ource Sans Pro"/>
              </a:rPr>
              <a:t>DATADATDAT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3" y="2514600"/>
            <a:ext cx="3456431" cy="19620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 dirty="0">
                <a:solidFill>
                  <a:srgbClr val="3632A7"/>
                </a:solidFill>
                <a:latin typeface="Source Sans Pro"/>
              </a:rPr>
              <a:t>■  </a:t>
            </a:r>
            <a:r>
              <a:rPr sz="1050" dirty="0">
                <a:solidFill>
                  <a:srgbClr val="4A4A4A"/>
                </a:solidFill>
                <a:latin typeface="Source Sans Pro"/>
              </a:rPr>
              <a:t>Git semantics for databases: clone, push, pull, commit, checkout, branch.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3632A7"/>
                </a:solidFill>
                <a:latin typeface="Source Sans Pro"/>
              </a:rPr>
              <a:t>■  </a:t>
            </a:r>
            <a:r>
              <a:rPr lang="en-US" sz="1050" dirty="0">
                <a:solidFill>
                  <a:srgbClr val="4A4A4A"/>
                </a:solidFill>
                <a:latin typeface="Source Sans Pro"/>
              </a:rPr>
              <a:t>Each</a:t>
            </a:r>
            <a:r>
              <a:rPr sz="1050" dirty="0">
                <a:solidFill>
                  <a:srgbClr val="4A4A4A"/>
                </a:solidFill>
                <a:latin typeface="Source Sans Pro"/>
              </a:rPr>
              <a:t> developer </a:t>
            </a:r>
            <a:r>
              <a:rPr lang="en-US" sz="1050" dirty="0">
                <a:solidFill>
                  <a:srgbClr val="4A4A4A"/>
                </a:solidFill>
                <a:latin typeface="Source Sans Pro"/>
              </a:rPr>
              <a:t>provided a</a:t>
            </a:r>
            <a:r>
              <a:rPr sz="1050" dirty="0">
                <a:solidFill>
                  <a:srgbClr val="4A4A4A"/>
                </a:solidFill>
                <a:latin typeface="Source Sans Pro"/>
              </a:rPr>
              <a:t>n isolated, fully-functional database from a known commit.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3632A7"/>
                </a:solidFill>
                <a:latin typeface="Source Sans Pro"/>
              </a:rPr>
              <a:t>■  </a:t>
            </a:r>
            <a:r>
              <a:rPr sz="1050" dirty="0">
                <a:solidFill>
                  <a:srgbClr val="4A4A4A"/>
                </a:solidFill>
                <a:latin typeface="Source Sans Pro"/>
              </a:rPr>
              <a:t>Delta-only versioning of the data file and container metadata — commits are fast and lightweight.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3632A7"/>
                </a:solidFill>
                <a:latin typeface="Source Sans Pro"/>
              </a:rPr>
              <a:t>■  </a:t>
            </a:r>
            <a:r>
              <a:rPr sz="1050" dirty="0">
                <a:solidFill>
                  <a:srgbClr val="4A4A4A"/>
                </a:solidFill>
                <a:latin typeface="Source Sans Pro"/>
              </a:rPr>
              <a:t>Same workflow whether containers run outside or inside the workspace — future-proof.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3632A7"/>
                </a:solidFill>
                <a:latin typeface="Source Sans Pro"/>
              </a:rPr>
              <a:t>■  </a:t>
            </a:r>
            <a:r>
              <a:rPr sz="1050" dirty="0">
                <a:solidFill>
                  <a:srgbClr val="4A4A4A"/>
                </a:solidFill>
                <a:latin typeface="Source Sans Pro"/>
              </a:rPr>
              <a:t>Database state versioned alongside code — aligned cognitive model with app development.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39326" y="2103120"/>
            <a:ext cx="3822191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CDCD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39326" y="2103120"/>
            <a:ext cx="3822191" cy="292608"/>
          </a:xfrm>
          <a:prstGeom prst="rect">
            <a:avLst/>
          </a:prstGeom>
          <a:solidFill>
            <a:srgbClr val="0B0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22206" y="2103120"/>
            <a:ext cx="3456431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ource Sans Pro"/>
              </a:rPr>
              <a:t>OUTCOMES FOR JPMC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6" y="2514600"/>
            <a:ext cx="3456431" cy="24160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00" b="1" dirty="0">
                <a:solidFill>
                  <a:srgbClr val="0B0B53"/>
                </a:solidFill>
                <a:latin typeface="Source Sans Pro"/>
              </a:rPr>
              <a:t>■  </a:t>
            </a:r>
            <a:r>
              <a:rPr sz="1050" dirty="0">
                <a:solidFill>
                  <a:srgbClr val="4A4A4A"/>
                </a:solidFill>
                <a:latin typeface="Source Sans Pro"/>
              </a:rPr>
              <a:t>Outages localized to one developer — never to the whole team.</a:t>
            </a:r>
          </a:p>
          <a:p>
            <a:pPr>
              <a:spcAft>
                <a:spcPts val="600"/>
              </a:spcAft>
            </a:pPr>
            <a:r>
              <a:rPr lang="en-US" sz="1200" b="1" dirty="0">
                <a:solidFill>
                  <a:srgbClr val="0B0B53"/>
                </a:solidFill>
                <a:latin typeface="Source Sans Pro"/>
              </a:rPr>
              <a:t>■  </a:t>
            </a:r>
            <a:r>
              <a:rPr lang="en-US" sz="1100" dirty="0">
                <a:solidFill>
                  <a:srgbClr val="4A4A4A"/>
                </a:solidFill>
                <a:latin typeface="Source Sans Pro"/>
              </a:rPr>
              <a:t>Database restoration collapse from hours to seconds via a single d3 checkout.</a:t>
            </a:r>
          </a:p>
          <a:p>
            <a:pPr>
              <a:spcAft>
                <a:spcPts val="600"/>
              </a:spcAft>
            </a:pPr>
            <a:r>
              <a:rPr lang="en-US" sz="1200" b="1" dirty="0">
                <a:solidFill>
                  <a:srgbClr val="0B0B53"/>
                </a:solidFill>
                <a:latin typeface="Source Sans Pro"/>
              </a:rPr>
              <a:t>■  </a:t>
            </a:r>
            <a:r>
              <a:rPr lang="en-US" sz="1100" dirty="0">
                <a:solidFill>
                  <a:srgbClr val="4A4A4A"/>
                </a:solidFill>
                <a:latin typeface="Source Sans Pro"/>
              </a:rPr>
              <a:t>Database rehydration now happens asynchronously increasing productivity and eliminating downtime.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0B0B53"/>
                </a:solidFill>
                <a:latin typeface="Source Sans Pro"/>
              </a:rPr>
              <a:t>■  </a:t>
            </a:r>
            <a:r>
              <a:rPr sz="1050" dirty="0">
                <a:solidFill>
                  <a:srgbClr val="4A4A4A"/>
                </a:solidFill>
                <a:latin typeface="Source Sans Pro"/>
              </a:rPr>
              <a:t>Developers move faster, with confidence to make DB changes.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0B0B53"/>
                </a:solidFill>
                <a:latin typeface="Source Sans Pro"/>
              </a:rPr>
              <a:t>■  </a:t>
            </a:r>
            <a:r>
              <a:rPr sz="1050" dirty="0">
                <a:solidFill>
                  <a:srgbClr val="4A4A4A"/>
                </a:solidFill>
                <a:latin typeface="Source Sans Pro"/>
              </a:rPr>
              <a:t>Investment carries forward as JPMC's workspace strategy evolves.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0B0B53"/>
                </a:solidFill>
                <a:latin typeface="Source Sans Pro"/>
              </a:rPr>
              <a:t>■  </a:t>
            </a:r>
            <a:r>
              <a:rPr sz="1050" dirty="0">
                <a:solidFill>
                  <a:srgbClr val="4A4A4A"/>
                </a:solidFill>
                <a:latin typeface="Source Sans Pro"/>
              </a:rPr>
              <a:t>Higher code quality, faster delivery, measurably stronger dev engagement.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32120"/>
            <a:ext cx="11274552" cy="713232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57784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B0B53"/>
                </a:solidFill>
                <a:latin typeface="Source Sans Pro"/>
              </a:rPr>
              <a:t>IMPLEMENTATION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861304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0B0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ource Sans Pro"/>
              </a:rPr>
              <a:t>d3 executable on workstation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767328" y="5934456"/>
            <a:ext cx="283464" cy="182880"/>
          </a:xfrm>
          <a:prstGeom prst="rightArrow">
            <a:avLst/>
          </a:prstGeom>
          <a:solidFill>
            <a:srgbClr val="A99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069080" y="5861304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363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ource Sans Pro"/>
              </a:rPr>
              <a:t>Docker  /  Kubernetes runtime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196328" y="5934456"/>
            <a:ext cx="283464" cy="182880"/>
          </a:xfrm>
          <a:prstGeom prst="rightArrow">
            <a:avLst/>
          </a:prstGeom>
          <a:solidFill>
            <a:srgbClr val="A99D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498080" y="5861304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0B0B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ource Sans Pro"/>
              </a:rPr>
              <a:t>Datadatdat Remote Server (commit store)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0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40994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99DBA"/>
                </a:solidFill>
                <a:latin typeface="Source Sans Pro"/>
              </a:rPr>
              <a:t>30+ DATABASES SUPPORTED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601968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Source Sans Pro"/>
              </a:rPr>
              <a:t>PostgreSQL · MySQL · MariaDB · SQL Server · Oracle · MongoDB · DynamoDB · CockroachDB · TiDB · Cassandra · ClickHouse · Couchbase · CouchDB · Redis · Valkey · Dragonfly · Elasticsearch · OpenSearch · Neo4j · ScyllaDB · SurrealDB · TigerGraph · Qdrant · Chroma · Weaviate · Typesense · Meilisearch · InfluxDB · QuestDB · NATS · StarRocks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337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Source Sans Pro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Robert Reeves</cp:lastModifiedBy>
  <cp:revision>2</cp:revision>
  <dcterms:created xsi:type="dcterms:W3CDTF">2013-01-27T09:14:16Z</dcterms:created>
  <dcterms:modified xsi:type="dcterms:W3CDTF">2026-05-14T15:41:05Z</dcterms:modified>
  <cp:category/>
</cp:coreProperties>
</file>